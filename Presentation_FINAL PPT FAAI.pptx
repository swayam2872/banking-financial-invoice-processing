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22"/>
    <p:sldId id="270" r:id="rId21"/>
    <p:sldId id="269" r:id="rId20"/>
    <p:sldId id="268" r:id="rId19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streamlit run app.py, then open localhost:8501. Pick an invoice in the sidebar and click Process Invoice.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INV101 first (green), then INV102, INV103 and INV106 to show the three different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9" Type="http://schemas.openxmlformats.org/officeDocument/2006/relationships/image" Target="../media/demo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image" Target="../media/demo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image" Target="../media/demo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image" Target="../media/demo3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image" Target="../media/demo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Invoice Processing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Agentic AI (rule-based multi-agent simulation)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|  Solution  |  Architecture  |  Demonstration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 |  Python +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" name="Statement card 5"/>
          <p:cNvSpPr/>
          <p:nvPr/>
        </p:nvSpPr>
        <p:spPr>
          <a:xfrm>
            <a:off x="457200" y="1005840"/>
            <a:ext cx="2834640" cy="2523744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58368" y="1143000"/>
            <a:ext cx="2432304" cy="2249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7FD6C8"/>
                </a:solidFill>
                <a:latin typeface="Calibri"/>
                <a:ea typeface="Calibri"/>
                <a:cs typeface="Calibri"/>
              </a:rPr>
              <a:t>WHY IT MATTERS</a:t>
            </a:r>
          </a:p>
          <a:p>
            <a:pPr algn="l" indent="0" marL="0">
              <a:spcBef>
                <a:spcPts val="600"/>
              </a:spcBef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invoice checking is slow and easy to get wrong</a:t>
            </a:r>
          </a:p>
          <a:p>
            <a:pPr algn="l" indent="0" marL="0">
              <a:spcBef>
                <a:spcPts val="800"/>
              </a:spcBef>
              <a:buNone/>
            </a:pPr>
            <a:r>
              <a:rPr lang="en-US" sz="1200" b="0" i="0" dirty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Teams cross-check fields, totals, old records and payments from separate sources before approving.</a:t>
            </a:r>
          </a:p>
        </p:txBody>
      </p:sp>
      <p:sp>
        <p:nvSpPr>
          <p:cNvPr id="7" name="Problem card 7"/>
          <p:cNvSpPr/>
          <p:nvPr/>
        </p:nvSpPr>
        <p:spPr>
          <a:xfrm>
            <a:off x="3474720" y="1005840"/>
            <a:ext cx="2514600" cy="1170432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8" name="Icon 8"/>
          <p:cNvSpPr/>
          <p:nvPr/>
        </p:nvSpPr>
        <p:spPr>
          <a:xfrm>
            <a:off x="3639312" y="1170432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" name="Icon glyph 9"/>
          <p:cNvSpPr txBox="1"/>
          <p:nvPr/>
        </p:nvSpPr>
        <p:spPr>
          <a:xfrm>
            <a:off x="3639312" y="11704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≠</a:t>
            </a:r>
          </a:p>
        </p:txBody>
      </p:sp>
      <p:sp>
        <p:nvSpPr>
          <p:cNvPr id="10" name="Card title 10"/>
          <p:cNvSpPr txBox="1"/>
          <p:nvPr/>
        </p:nvSpPr>
        <p:spPr>
          <a:xfrm>
            <a:off x="4169664" y="11704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Calculation errors</a:t>
            </a:r>
          </a:p>
        </p:txBody>
      </p:sp>
      <p:sp>
        <p:nvSpPr>
          <p:cNvPr id="11" name="Card text 11"/>
          <p:cNvSpPr txBox="1"/>
          <p:nvPr/>
        </p:nvSpPr>
        <p:spPr>
          <a:xfrm>
            <a:off x="3639312" y="1700784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 wrong total slips through unnoticed</a:t>
            </a:r>
          </a:p>
        </p:txBody>
      </p:sp>
      <p:sp>
        <p:nvSpPr>
          <p:cNvPr id="12" name="Problem card 12"/>
          <p:cNvSpPr/>
          <p:nvPr/>
        </p:nvSpPr>
        <p:spPr>
          <a:xfrm>
            <a:off x="6172200" y="1005840"/>
            <a:ext cx="2514600" cy="1170432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13" name="Icon 13"/>
          <p:cNvSpPr/>
          <p:nvPr/>
        </p:nvSpPr>
        <p:spPr>
          <a:xfrm>
            <a:off x="6336792" y="1170432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14" name="Icon glyph 14"/>
          <p:cNvSpPr txBox="1"/>
          <p:nvPr/>
        </p:nvSpPr>
        <p:spPr>
          <a:xfrm>
            <a:off x="6336792" y="11704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2×</a:t>
            </a:r>
          </a:p>
        </p:txBody>
      </p:sp>
      <p:sp>
        <p:nvSpPr>
          <p:cNvPr id="15" name="Card title 15"/>
          <p:cNvSpPr txBox="1"/>
          <p:nvPr/>
        </p:nvSpPr>
        <p:spPr>
          <a:xfrm>
            <a:off x="6867144" y="11704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Duplicate invoices</a:t>
            </a:r>
          </a:p>
        </p:txBody>
      </p:sp>
      <p:sp>
        <p:nvSpPr>
          <p:cNvPr id="16" name="Card text 16"/>
          <p:cNvSpPr txBox="1"/>
          <p:nvPr/>
        </p:nvSpPr>
        <p:spPr>
          <a:xfrm>
            <a:off x="6336792" y="1700784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The same bill gets paid twice</a:t>
            </a:r>
          </a:p>
        </p:txBody>
      </p:sp>
      <p:sp>
        <p:nvSpPr>
          <p:cNvPr id="17" name="Problem card 17"/>
          <p:cNvSpPr/>
          <p:nvPr/>
        </p:nvSpPr>
        <p:spPr>
          <a:xfrm>
            <a:off x="3474720" y="2359152"/>
            <a:ext cx="2514600" cy="1170432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18" name="Icon 18"/>
          <p:cNvSpPr/>
          <p:nvPr/>
        </p:nvSpPr>
        <p:spPr>
          <a:xfrm>
            <a:off x="3639312" y="2523744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19" name="Icon glyph 19"/>
          <p:cNvSpPr txBox="1"/>
          <p:nvPr/>
        </p:nvSpPr>
        <p:spPr>
          <a:xfrm>
            <a:off x="3639312" y="25237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</a:t>
            </a:r>
          </a:p>
        </p:txBody>
      </p:sp>
      <p:sp>
        <p:nvSpPr>
          <p:cNvPr id="20" name="Card title 20"/>
          <p:cNvSpPr txBox="1"/>
          <p:nvPr/>
        </p:nvSpPr>
        <p:spPr>
          <a:xfrm>
            <a:off x="4169664" y="2523744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Payment mismatches</a:t>
            </a:r>
          </a:p>
        </p:txBody>
      </p:sp>
      <p:sp>
        <p:nvSpPr>
          <p:cNvPr id="21" name="Card text 21"/>
          <p:cNvSpPr txBox="1"/>
          <p:nvPr/>
        </p:nvSpPr>
        <p:spPr>
          <a:xfrm>
            <a:off x="3639312" y="305409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Amount paid differs from amount billed</a:t>
            </a:r>
          </a:p>
        </p:txBody>
      </p:sp>
      <p:sp>
        <p:nvSpPr>
          <p:cNvPr id="22" name="Problem card 22"/>
          <p:cNvSpPr/>
          <p:nvPr/>
        </p:nvSpPr>
        <p:spPr>
          <a:xfrm>
            <a:off x="6172200" y="2359152"/>
            <a:ext cx="2514600" cy="1170432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23" name="Icon 23"/>
          <p:cNvSpPr/>
          <p:nvPr/>
        </p:nvSpPr>
        <p:spPr>
          <a:xfrm>
            <a:off x="6336792" y="2523744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24" name="Icon glyph 24"/>
          <p:cNvSpPr txBox="1"/>
          <p:nvPr/>
        </p:nvSpPr>
        <p:spPr>
          <a:xfrm>
            <a:off x="6336792" y="25237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5" name="Card title 25"/>
          <p:cNvSpPr txBox="1"/>
          <p:nvPr/>
        </p:nvSpPr>
        <p:spPr>
          <a:xfrm>
            <a:off x="6867144" y="2523744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No clear trail</a:t>
            </a:r>
          </a:p>
        </p:txBody>
      </p:sp>
      <p:sp>
        <p:nvSpPr>
          <p:cNvPr id="26" name="Card text 26"/>
          <p:cNvSpPr txBox="1"/>
          <p:nvPr/>
        </p:nvSpPr>
        <p:spPr>
          <a:xfrm>
            <a:off x="6336792" y="305409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Hard to explain why it was approved</a:t>
            </a:r>
          </a:p>
        </p:txBody>
      </p:sp>
      <p:sp>
        <p:nvSpPr>
          <p:cNvPr id="27" name="Impact card 27"/>
          <p:cNvSpPr/>
          <p:nvPr/>
        </p:nvSpPr>
        <p:spPr>
          <a:xfrm>
            <a:off x="457200" y="3749040"/>
            <a:ext cx="4023360" cy="86868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28" name="Impact text 28"/>
          <p:cNvSpPr txBox="1"/>
          <p:nvPr/>
        </p:nvSpPr>
        <p:spPr>
          <a:xfrm>
            <a:off x="640080" y="37947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IMPACT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Financial loss, delayed vendor payments and compliance risk.</a:t>
            </a:r>
          </a:p>
        </p:txBody>
      </p:sp>
      <p:sp>
        <p:nvSpPr>
          <p:cNvPr id="29" name="Question card 29"/>
          <p:cNvSpPr/>
          <p:nvPr/>
        </p:nvSpPr>
        <p:spPr>
          <a:xfrm>
            <a:off x="4663440" y="3749040"/>
            <a:ext cx="402336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1F3A5F"/>
            </a:solidFill>
          </a:ln>
        </p:spPr>
      </p:sp>
      <p:sp>
        <p:nvSpPr>
          <p:cNvPr id="30" name="Question text 30"/>
          <p:cNvSpPr txBox="1"/>
          <p:nvPr/>
        </p:nvSpPr>
        <p:spPr>
          <a:xfrm>
            <a:off x="4846320" y="37947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CORE QUESTION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How can these checks be automated clearly, with a human keeping final control of payment?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Intro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Four specialised agents validate each invoice and give one clear status. A human still approves.</a:t>
            </a:r>
          </a:p>
        </p:txBody>
      </p:sp>
      <p:sp>
        <p:nvSpPr>
          <p:cNvPr id="6" name="Problem chip 6"/>
          <p:cNvSpPr/>
          <p:nvPr/>
        </p:nvSpPr>
        <p:spPr>
          <a:xfrm>
            <a:off x="457200" y="1481328"/>
            <a:ext cx="2743200" cy="475488"/>
          </a:xfrm>
          <a:prstGeom prst="roundRect">
            <a:avLst>
              <a:gd name="adj" fmla="val 18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7" name="Problem text 7"/>
          <p:cNvSpPr txBox="1"/>
          <p:nvPr/>
        </p:nvSpPr>
        <p:spPr>
          <a:xfrm>
            <a:off x="640080" y="1481328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Slow manual checking</a:t>
            </a:r>
          </a:p>
        </p:txBody>
      </p:sp>
      <p:sp>
        <p:nvSpPr>
          <p:cNvPr id="8" name="Arrow 8"/>
          <p:cNvSpPr/>
          <p:nvPr/>
        </p:nvSpPr>
        <p:spPr>
          <a:xfrm>
            <a:off x="3310128" y="1554480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9" name="Arrow glyph 9"/>
          <p:cNvSpPr txBox="1"/>
          <p:nvPr/>
        </p:nvSpPr>
        <p:spPr>
          <a:xfrm>
            <a:off x="3310128" y="15544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Solution chip 10"/>
          <p:cNvSpPr/>
          <p:nvPr/>
        </p:nvSpPr>
        <p:spPr>
          <a:xfrm>
            <a:off x="3749040" y="1481328"/>
            <a:ext cx="4937760" cy="475488"/>
          </a:xfrm>
          <a:prstGeom prst="roundRect">
            <a:avLst>
              <a:gd name="adj" fmla="val 18000"/>
            </a:avLst>
          </a:prstGeom>
          <a:solidFill>
            <a:srgbClr val="E8F5F2"/>
          </a:solidFill>
          <a:ln>
            <a:noFill/>
          </a:ln>
        </p:spPr>
      </p:sp>
      <p:sp>
        <p:nvSpPr>
          <p:cNvPr id="11" name="Solution text 11"/>
          <p:cNvSpPr txBox="1"/>
          <p:nvPr/>
        </p:nvSpPr>
        <p:spPr>
          <a:xfrm>
            <a:off x="3931920" y="1481328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Automated pipeline runs all 5 checks in one click</a:t>
            </a:r>
          </a:p>
        </p:txBody>
      </p:sp>
      <p:sp>
        <p:nvSpPr>
          <p:cNvPr id="12" name="Problem chip 12"/>
          <p:cNvSpPr/>
          <p:nvPr/>
        </p:nvSpPr>
        <p:spPr>
          <a:xfrm>
            <a:off x="457200" y="2029968"/>
            <a:ext cx="2743200" cy="475488"/>
          </a:xfrm>
          <a:prstGeom prst="roundRect">
            <a:avLst>
              <a:gd name="adj" fmla="val 18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13" name="Problem text 13"/>
          <p:cNvSpPr txBox="1"/>
          <p:nvPr/>
        </p:nvSpPr>
        <p:spPr>
          <a:xfrm>
            <a:off x="640080" y="2029968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Calculation errors</a:t>
            </a:r>
          </a:p>
        </p:txBody>
      </p:sp>
      <p:sp>
        <p:nvSpPr>
          <p:cNvPr id="14" name="Arrow 14"/>
          <p:cNvSpPr/>
          <p:nvPr/>
        </p:nvSpPr>
        <p:spPr>
          <a:xfrm>
            <a:off x="3310128" y="2103120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5" name="Arrow glyph 15"/>
          <p:cNvSpPr txBox="1"/>
          <p:nvPr/>
        </p:nvSpPr>
        <p:spPr>
          <a:xfrm>
            <a:off x="3310128" y="21031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Solution chip 16"/>
          <p:cNvSpPr/>
          <p:nvPr/>
        </p:nvSpPr>
        <p:spPr>
          <a:xfrm>
            <a:off x="3749040" y="2029968"/>
            <a:ext cx="4937760" cy="475488"/>
          </a:xfrm>
          <a:prstGeom prst="roundRect">
            <a:avLst>
              <a:gd name="adj" fmla="val 18000"/>
            </a:avLst>
          </a:prstGeom>
          <a:solidFill>
            <a:srgbClr val="E8F5F2"/>
          </a:solidFill>
          <a:ln>
            <a:noFill/>
          </a:ln>
        </p:spPr>
      </p:sp>
      <p:sp>
        <p:nvSpPr>
          <p:cNvPr id="17" name="Solution text 17"/>
          <p:cNvSpPr txBox="1"/>
          <p:nvPr/>
        </p:nvSpPr>
        <p:spPr>
          <a:xfrm>
            <a:off x="3931920" y="2029968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Exact Decimal maths verifies subtotal + tax = total</a:t>
            </a:r>
          </a:p>
        </p:txBody>
      </p:sp>
      <p:sp>
        <p:nvSpPr>
          <p:cNvPr id="18" name="Problem chip 18"/>
          <p:cNvSpPr/>
          <p:nvPr/>
        </p:nvSpPr>
        <p:spPr>
          <a:xfrm>
            <a:off x="457200" y="2578608"/>
            <a:ext cx="2743200" cy="475488"/>
          </a:xfrm>
          <a:prstGeom prst="roundRect">
            <a:avLst>
              <a:gd name="adj" fmla="val 18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19" name="Problem text 19"/>
          <p:cNvSpPr txBox="1"/>
          <p:nvPr/>
        </p:nvSpPr>
        <p:spPr>
          <a:xfrm>
            <a:off x="640080" y="2578608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Duplicates and mismatches</a:t>
            </a:r>
          </a:p>
        </p:txBody>
      </p:sp>
      <p:sp>
        <p:nvSpPr>
          <p:cNvPr id="20" name="Arrow 20"/>
          <p:cNvSpPr/>
          <p:nvPr/>
        </p:nvSpPr>
        <p:spPr>
          <a:xfrm>
            <a:off x="3310128" y="2651760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1" name="Arrow glyph 21"/>
          <p:cNvSpPr txBox="1"/>
          <p:nvPr/>
        </p:nvSpPr>
        <p:spPr>
          <a:xfrm>
            <a:off x="3310128" y="26517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2" name="Solution chip 22"/>
          <p:cNvSpPr/>
          <p:nvPr/>
        </p:nvSpPr>
        <p:spPr>
          <a:xfrm>
            <a:off x="3749040" y="2578608"/>
            <a:ext cx="4937760" cy="475488"/>
          </a:xfrm>
          <a:prstGeom prst="roundRect">
            <a:avLst>
              <a:gd name="adj" fmla="val 18000"/>
            </a:avLst>
          </a:prstGeom>
          <a:solidFill>
            <a:srgbClr val="E8F5F2"/>
          </a:solidFill>
          <a:ln>
            <a:noFill/>
          </a:ln>
        </p:spPr>
      </p:sp>
      <p:sp>
        <p:nvSpPr>
          <p:cNvPr id="23" name="Solution text 23"/>
          <p:cNvSpPr txBox="1"/>
          <p:nvPr/>
        </p:nvSpPr>
        <p:spPr>
          <a:xfrm>
            <a:off x="3931920" y="2578608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Checks against earlier invoices and payment records</a:t>
            </a:r>
          </a:p>
        </p:txBody>
      </p:sp>
      <p:sp>
        <p:nvSpPr>
          <p:cNvPr id="24" name="Problem chip 24"/>
          <p:cNvSpPr/>
          <p:nvPr/>
        </p:nvSpPr>
        <p:spPr>
          <a:xfrm>
            <a:off x="457200" y="3127248"/>
            <a:ext cx="2743200" cy="475488"/>
          </a:xfrm>
          <a:prstGeom prst="roundRect">
            <a:avLst>
              <a:gd name="adj" fmla="val 18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25" name="Problem text 25"/>
          <p:cNvSpPr txBox="1"/>
          <p:nvPr/>
        </p:nvSpPr>
        <p:spPr>
          <a:xfrm>
            <a:off x="640080" y="3127248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No clear trail</a:t>
            </a:r>
          </a:p>
        </p:txBody>
      </p:sp>
      <p:sp>
        <p:nvSpPr>
          <p:cNvPr id="26" name="Arrow 26"/>
          <p:cNvSpPr/>
          <p:nvPr/>
        </p:nvSpPr>
        <p:spPr>
          <a:xfrm>
            <a:off x="3310128" y="3200400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7" name="Arrow glyph 27"/>
          <p:cNvSpPr txBox="1"/>
          <p:nvPr/>
        </p:nvSpPr>
        <p:spPr>
          <a:xfrm>
            <a:off x="3310128" y="3200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Solution chip 28"/>
          <p:cNvSpPr/>
          <p:nvPr/>
        </p:nvSpPr>
        <p:spPr>
          <a:xfrm>
            <a:off x="3749040" y="3127248"/>
            <a:ext cx="4937760" cy="475488"/>
          </a:xfrm>
          <a:prstGeom prst="roundRect">
            <a:avLst>
              <a:gd name="adj" fmla="val 18000"/>
            </a:avLst>
          </a:prstGeom>
          <a:solidFill>
            <a:srgbClr val="E8F5F2"/>
          </a:solidFill>
          <a:ln>
            <a:noFill/>
          </a:ln>
        </p:spPr>
      </p:sp>
      <p:sp>
        <p:nvSpPr>
          <p:cNvPr id="29" name="Solution text 29"/>
          <p:cNvSpPr txBox="1"/>
          <p:nvPr/>
        </p:nvSpPr>
        <p:spPr>
          <a:xfrm>
            <a:off x="3931920" y="3127248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Every result has reasons plus a step-by-step audit log</a:t>
            </a:r>
          </a:p>
        </p:txBody>
      </p:sp>
      <p:sp>
        <p:nvSpPr>
          <p:cNvPr id="30" name="Problem chip 30"/>
          <p:cNvSpPr/>
          <p:nvPr/>
        </p:nvSpPr>
        <p:spPr>
          <a:xfrm>
            <a:off x="457200" y="3675888"/>
            <a:ext cx="2743200" cy="475488"/>
          </a:xfrm>
          <a:prstGeom prst="roundRect">
            <a:avLst>
              <a:gd name="adj" fmla="val 18000"/>
            </a:avLst>
          </a:prstGeom>
          <a:solidFill>
            <a:srgbClr val="FDEDEC"/>
          </a:solidFill>
          <a:ln>
            <a:noFill/>
          </a:ln>
        </p:spPr>
      </p:sp>
      <p:sp>
        <p:nvSpPr>
          <p:cNvPr id="31" name="Problem text 31"/>
          <p:cNvSpPr txBox="1"/>
          <p:nvPr/>
        </p:nvSpPr>
        <p:spPr>
          <a:xfrm>
            <a:off x="640080" y="3675888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Risk of auto-payment</a:t>
            </a:r>
          </a:p>
        </p:txBody>
      </p:sp>
      <p:sp>
        <p:nvSpPr>
          <p:cNvPr id="32" name="Arrow 32"/>
          <p:cNvSpPr/>
          <p:nvPr/>
        </p:nvSpPr>
        <p:spPr>
          <a:xfrm>
            <a:off x="3310128" y="3749040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3" name="Arrow glyph 33"/>
          <p:cNvSpPr txBox="1"/>
          <p:nvPr/>
        </p:nvSpPr>
        <p:spPr>
          <a:xfrm>
            <a:off x="3310128" y="37490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4" name="Solution chip 34"/>
          <p:cNvSpPr/>
          <p:nvPr/>
        </p:nvSpPr>
        <p:spPr>
          <a:xfrm>
            <a:off x="3749040" y="3675888"/>
            <a:ext cx="4937760" cy="475488"/>
          </a:xfrm>
          <a:prstGeom prst="roundRect">
            <a:avLst>
              <a:gd name="adj" fmla="val 18000"/>
            </a:avLst>
          </a:prstGeom>
          <a:solidFill>
            <a:srgbClr val="E8F5F2"/>
          </a:solidFill>
          <a:ln>
            <a:noFill/>
          </a:ln>
        </p:spPr>
      </p:sp>
      <p:sp>
        <p:nvSpPr>
          <p:cNvPr id="35" name="Solution text 35"/>
          <p:cNvSpPr txBox="1"/>
          <p:nvPr/>
        </p:nvSpPr>
        <p:spPr>
          <a:xfrm>
            <a:off x="3931920" y="3675888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Never pays; best result is “eligible for human review”</a:t>
            </a:r>
          </a:p>
        </p:txBody>
      </p:sp>
      <p:sp>
        <p:nvSpPr>
          <p:cNvPr id="36" name="Scope note 36"/>
          <p:cNvSpPr/>
          <p:nvPr/>
        </p:nvSpPr>
        <p:spPr>
          <a:xfrm>
            <a:off x="457200" y="427939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700">
            <a:solidFill>
              <a:srgbClr val="1F3A5F"/>
            </a:solidFill>
          </a:ln>
        </p:spPr>
      </p:sp>
      <p:sp>
        <p:nvSpPr>
          <p:cNvPr id="37" name="Scope text 37"/>
          <p:cNvSpPr txBox="1"/>
          <p:nvPr/>
        </p:nvSpPr>
        <p:spPr>
          <a:xfrm>
            <a:off x="640080" y="427939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Honest scope: </a:t>
            </a:r>
            <a:r>
              <a:rPr lang="en-US" sz="12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fixed Python rules on synthetic data. No LLM, no OCR, no database, no real payments.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960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2697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3703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960120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1005840"/>
            <a:ext cx="7223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(app.py)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325880"/>
            <a:ext cx="7132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invoice, click Process, view status, checks, reconciliation, audit log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1874520"/>
            <a:ext cx="7223760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19019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process_invoice()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194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agents in order, applies the empty-data gate, writes the audit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2697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8F6F4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2743200"/>
            <a:ext cx="16002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108960"/>
            <a:ext cx="15087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8F6F4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743200"/>
            <a:ext cx="16002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3108960"/>
            <a:ext cx="15087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fields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0" y="2697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8F6F4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0" y="2743200"/>
            <a:ext cx="16002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108960"/>
            <a:ext cx="15087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58000" y="2697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8F6F4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2743200"/>
            <a:ext cx="16002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108960"/>
            <a:ext cx="15087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3520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71600" y="37033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71600" y="3749040"/>
            <a:ext cx="22860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invoices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4114800"/>
            <a:ext cx="21945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synthetic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37033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40480" y="3749040"/>
            <a:ext cx="22860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invoices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886200" y="4114800"/>
            <a:ext cx="21945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7033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09360" y="3749040"/>
            <a:ext cx="228600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355080" y="4114800"/>
            <a:ext cx="2194560" cy="370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How an Invoice Flows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417320"/>
            <a:ext cx="146304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240280"/>
            <a:ext cx="137160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5-step 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64792" y="20116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5740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1417320"/>
            <a:ext cx="146304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240280"/>
            <a:ext cx="137160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6 fields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09728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20116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9476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EF5E7"/>
          </a:solidFill>
          <a:ln w="19050">
            <a:solidFill>
              <a:srgbClr val="D6891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1417320"/>
            <a:ext cx="146304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240280"/>
            <a:ext cx="137160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read? Stop: INCOMPLETE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097280"/>
            <a:ext cx="320040" cy="320040"/>
          </a:xfrm>
          <a:prstGeom prst="ellipse">
            <a:avLst/>
          </a:prstGeom>
          <a:solidFill>
            <a:srgbClr val="D6891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0116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3212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2120" y="1417320"/>
            <a:ext cx="146304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240280"/>
            <a:ext cx="137160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5 checks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09728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20116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26948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69480" y="1417320"/>
            <a:ext cx="146304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2240280"/>
            <a:ext cx="1371600" cy="781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final 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109728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4747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final status + reasons + 5 check results + reconciliation + audit log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Agents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108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Manager: decides the steps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5 tasks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Data-entry clerk: reads invoice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extracted fields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Checker: runs 5 checks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 / SKIPPED per 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Judge: reviews all results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+ reasons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Validation Checks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present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subtotal + tax (exact Decimal maths)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number is not a duplicate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record exists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 equals invoice total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0" y="1371600"/>
            <a:ext cx="3108960" cy="219456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463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returns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FAIL or SKIPPED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Agent: Decision Logic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194560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0972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checks passed. A human still approves.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1945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1488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broke: wrong total, duplicate, or payment mismatch.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194560" cy="86868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004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missing: blank field, bad number, no payment record.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payment is not treated as fraud. A failed check can never be VERIFIED.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Launch the Dashboard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5" name="Screenshot 5" descr="Streamlit dashboard open at localhost:8501 with the sidebar invoice sel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05840"/>
            <a:ext cx="8229600" cy="1844048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6" name="Step card 6"/>
          <p:cNvSpPr/>
          <p:nvPr/>
        </p:nvSpPr>
        <p:spPr>
          <a:xfrm>
            <a:off x="457200" y="3124208"/>
            <a:ext cx="2651760" cy="118872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7" name="Step badge 7"/>
          <p:cNvSpPr/>
          <p:nvPr/>
        </p:nvSpPr>
        <p:spPr>
          <a:xfrm>
            <a:off x="621792" y="327965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8" name="Step number 8"/>
          <p:cNvSpPr txBox="1"/>
          <p:nvPr/>
        </p:nvSpPr>
        <p:spPr>
          <a:xfrm>
            <a:off x="621792" y="3279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Step title 9"/>
          <p:cNvSpPr txBox="1"/>
          <p:nvPr/>
        </p:nvSpPr>
        <p:spPr>
          <a:xfrm>
            <a:off x="1115568" y="327965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Start the app</a:t>
            </a:r>
          </a:p>
        </p:txBody>
      </p:sp>
      <p:sp>
        <p:nvSpPr>
          <p:cNvPr id="10" name="Step text 10"/>
          <p:cNvSpPr txBox="1"/>
          <p:nvPr/>
        </p:nvSpPr>
        <p:spPr>
          <a:xfrm>
            <a:off x="621792" y="3782576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Run  streamlit run app.py  in the terminal</a:t>
            </a:r>
          </a:p>
        </p:txBody>
      </p:sp>
      <p:sp>
        <p:nvSpPr>
          <p:cNvPr id="11" name="Step card 11"/>
          <p:cNvSpPr/>
          <p:nvPr/>
        </p:nvSpPr>
        <p:spPr>
          <a:xfrm>
            <a:off x="3246120" y="3124208"/>
            <a:ext cx="2651760" cy="118872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12" name="Step badge 12"/>
          <p:cNvSpPr/>
          <p:nvPr/>
        </p:nvSpPr>
        <p:spPr>
          <a:xfrm>
            <a:off x="3410712" y="327965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3" name="Step number 13"/>
          <p:cNvSpPr txBox="1"/>
          <p:nvPr/>
        </p:nvSpPr>
        <p:spPr>
          <a:xfrm>
            <a:off x="3410712" y="3279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Step title 14"/>
          <p:cNvSpPr txBox="1"/>
          <p:nvPr/>
        </p:nvSpPr>
        <p:spPr>
          <a:xfrm>
            <a:off x="3904488" y="327965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Open the browser</a:t>
            </a:r>
          </a:p>
        </p:txBody>
      </p:sp>
      <p:sp>
        <p:nvSpPr>
          <p:cNvPr id="15" name="Step text 15"/>
          <p:cNvSpPr txBox="1"/>
          <p:nvPr/>
        </p:nvSpPr>
        <p:spPr>
          <a:xfrm>
            <a:off x="3410712" y="3782576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The dashboard loads at localhost:8501</a:t>
            </a:r>
          </a:p>
        </p:txBody>
      </p:sp>
      <p:sp>
        <p:nvSpPr>
          <p:cNvPr id="16" name="Step card 16"/>
          <p:cNvSpPr/>
          <p:nvPr/>
        </p:nvSpPr>
        <p:spPr>
          <a:xfrm>
            <a:off x="6035040" y="3124208"/>
            <a:ext cx="2651760" cy="1188720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17" name="Step badge 17"/>
          <p:cNvSpPr/>
          <p:nvPr/>
        </p:nvSpPr>
        <p:spPr>
          <a:xfrm>
            <a:off x="6199632" y="327965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8" name="Step number 18"/>
          <p:cNvSpPr txBox="1"/>
          <p:nvPr/>
        </p:nvSpPr>
        <p:spPr>
          <a:xfrm>
            <a:off x="6199632" y="3279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Step title 19"/>
          <p:cNvSpPr txBox="1"/>
          <p:nvPr/>
        </p:nvSpPr>
        <p:spPr>
          <a:xfrm>
            <a:off x="6693408" y="327965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Choose and process</a:t>
            </a:r>
          </a:p>
        </p:txBody>
      </p:sp>
      <p:sp>
        <p:nvSpPr>
          <p:cNvPr id="20" name="Step text 20"/>
          <p:cNvSpPr txBox="1"/>
          <p:nvPr/>
        </p:nvSpPr>
        <p:spPr>
          <a:xfrm>
            <a:off x="6199632" y="3782576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Pick an invoice in the sidebar, then click Process Invoice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Demonstration: Live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3200400"/>
                <a:gridCol w="1371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invoice, payment 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checks pass; human must still approve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20,000 vs total 23,600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mismatch, difference ₹3,600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already in old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duplicate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payment record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for the record; not treated as fraud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89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try: INV104 (wrong total) and INV105 (blank vendor).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with plain functions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the dashboard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for exact money maths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for the diagram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(9 tests, all pass)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required business cases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 does not crash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number does not crash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check never VERIFIED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&amp;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no learning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no OCR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in-memory records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invoices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agents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 and bank 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29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specialised agents cooperating through an orchestrator give clear, explainable invoice decisions, with a human always in control.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Workflow and Audit Log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5" name="Screenshot 5" descr="Workflow tab with the task plan and the audit lo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05840"/>
            <a:ext cx="5852160" cy="2585141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6" name="Caption 6"/>
          <p:cNvSpPr txBox="1"/>
          <p:nvPr/>
        </p:nvSpPr>
        <p:spPr>
          <a:xfrm>
            <a:off x="457200" y="3700709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Workflow tab: the plan on the left, what each agent did on the right.</a:t>
            </a:r>
          </a:p>
        </p:txBody>
      </p:sp>
      <p:sp>
        <p:nvSpPr>
          <p:cNvPr id="7" name="Notes panel 7"/>
          <p:cNvSpPr/>
          <p:nvPr/>
        </p:nvSpPr>
        <p:spPr>
          <a:xfrm>
            <a:off x="6492240" y="1005840"/>
            <a:ext cx="2194560" cy="2585141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3E0"/>
            </a:solidFill>
          </a:ln>
        </p:spPr>
      </p:sp>
      <p:sp>
        <p:nvSpPr>
          <p:cNvPr id="8" name="Notes text 8"/>
          <p:cNvSpPr txBox="1"/>
          <p:nvPr/>
        </p:nvSpPr>
        <p:spPr>
          <a:xfrm>
            <a:off x="6656832" y="1143000"/>
            <a:ext cx="1874520" cy="23108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1A8F7E"/>
                </a:solidFill>
                <a:latin typeface="Calibri"/>
                <a:ea typeface="Calibri"/>
                <a:cs typeface="Calibri"/>
              </a:rPr>
              <a:t>WHAT TO NOTICE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Task plan: the Planner’s 5 steps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Audit log: each agent’s action, in order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Critic’s final decision is recorded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The 5 Validation Checks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5" name="Screenshot 5" descr="Validation tab showing five checks, all passing, with detail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05840"/>
            <a:ext cx="5852160" cy="2427672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6" name="Caption 6"/>
          <p:cNvSpPr txBox="1"/>
          <p:nvPr/>
        </p:nvSpPr>
        <p:spPr>
          <a:xfrm>
            <a:off x="457200" y="354324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Validation tab: every check shows its result and the reason.</a:t>
            </a:r>
          </a:p>
        </p:txBody>
      </p:sp>
      <p:sp>
        <p:nvSpPr>
          <p:cNvPr id="7" name="Notes panel 7"/>
          <p:cNvSpPr/>
          <p:nvPr/>
        </p:nvSpPr>
        <p:spPr>
          <a:xfrm>
            <a:off x="6492240" y="1005840"/>
            <a:ext cx="2194560" cy="242767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3E0"/>
            </a:solidFill>
          </a:ln>
        </p:spPr>
      </p:sp>
      <p:sp>
        <p:nvSpPr>
          <p:cNvPr id="8" name="Notes text 8"/>
          <p:cNvSpPr txBox="1"/>
          <p:nvPr/>
        </p:nvSpPr>
        <p:spPr>
          <a:xfrm>
            <a:off x="6656832" y="1143000"/>
            <a:ext cx="1874520" cy="2153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1A8F7E"/>
                </a:solidFill>
                <a:latin typeface="Calibri"/>
                <a:ea typeface="Calibri"/>
                <a:cs typeface="Calibri"/>
              </a:rPr>
              <a:t>WHAT TO NOTICE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All 5 checks show Pass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Each check explains itself, e.g. ₹10,000 + ₹1,800 = ₹11,800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Payment record found, paid 2026-10-10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Process and Read the Result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5" name="Screenshot 5" descr="Verified banner with invoice summary and the extracted invoice field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05840"/>
            <a:ext cx="5852160" cy="2600098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6" name="Caption 6"/>
          <p:cNvSpPr txBox="1"/>
          <p:nvPr/>
        </p:nvSpPr>
        <p:spPr>
          <a:xfrm>
            <a:off x="457200" y="3715666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Invoice tab: the six fields the Document agent extracted.</a:t>
            </a:r>
          </a:p>
        </p:txBody>
      </p:sp>
      <p:sp>
        <p:nvSpPr>
          <p:cNvPr id="7" name="Notes panel 7"/>
          <p:cNvSpPr/>
          <p:nvPr/>
        </p:nvSpPr>
        <p:spPr>
          <a:xfrm>
            <a:off x="6492240" y="1005840"/>
            <a:ext cx="2194560" cy="260009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3E0"/>
            </a:solidFill>
          </a:ln>
        </p:spPr>
      </p:sp>
      <p:sp>
        <p:nvSpPr>
          <p:cNvPr id="8" name="Notes text 8"/>
          <p:cNvSpPr txBox="1"/>
          <p:nvPr/>
        </p:nvSpPr>
        <p:spPr>
          <a:xfrm>
            <a:off x="6656832" y="1143000"/>
            <a:ext cx="1874520" cy="23257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1A8F7E"/>
                </a:solidFill>
                <a:latin typeface="Calibri"/>
                <a:ea typeface="Calibri"/>
                <a:cs typeface="Calibri"/>
              </a:rPr>
              <a:t>WHAT TO NOTICE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Green banner: VERIFIED, eligible for human review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Summary shows invoice, vendor, total and payment</a:t>
            </a:r>
          </a:p>
          <a:p>
            <a:pPr algn="l" indent="0" marL="0">
              <a:spcBef>
                <a:spcPts val="90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Totals match: ₹11,800.00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itle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Select an Invoice</a:t>
            </a:r>
          </a:p>
        </p:txBody>
      </p:sp>
      <p:sp>
        <p:nvSpPr>
          <p:cNvPr id="4" name="Page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5" name="Screenshot 5" descr="Sidebar dropdown listing six sample invoic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05840"/>
            <a:ext cx="4572000" cy="2612571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6" name="List heading 6"/>
          <p:cNvSpPr txBox="1"/>
          <p:nvPr/>
        </p:nvSpPr>
        <p:spPr>
          <a:xfrm>
            <a:off x="5303520" y="9144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Six synthetic test invoices</a:t>
            </a:r>
          </a:p>
        </p:txBody>
      </p:sp>
      <p:sp>
        <p:nvSpPr>
          <p:cNvPr id="7" name="Invoice row 7"/>
          <p:cNvSpPr/>
          <p:nvPr/>
        </p:nvSpPr>
        <p:spPr>
          <a:xfrm>
            <a:off x="5303520" y="1325880"/>
            <a:ext cx="3383280" cy="43891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8" name="Invoice chip 8"/>
          <p:cNvSpPr/>
          <p:nvPr/>
        </p:nvSpPr>
        <p:spPr>
          <a:xfrm>
            <a:off x="5394960" y="1389888"/>
            <a:ext cx="822960" cy="310896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9" name="Invoice id 9"/>
          <p:cNvSpPr txBox="1"/>
          <p:nvPr/>
        </p:nvSpPr>
        <p:spPr>
          <a:xfrm>
            <a:off x="5394960" y="138988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INV101</a:t>
            </a:r>
          </a:p>
        </p:txBody>
      </p:sp>
      <p:sp>
        <p:nvSpPr>
          <p:cNvPr id="10" name="Invoice label 10"/>
          <p:cNvSpPr txBox="1"/>
          <p:nvPr/>
        </p:nvSpPr>
        <p:spPr>
          <a:xfrm>
            <a:off x="6355080" y="132588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Valid invoice</a:t>
            </a:r>
          </a:p>
        </p:txBody>
      </p:sp>
      <p:sp>
        <p:nvSpPr>
          <p:cNvPr id="11" name="Invoice row 11"/>
          <p:cNvSpPr/>
          <p:nvPr/>
        </p:nvSpPr>
        <p:spPr>
          <a:xfrm>
            <a:off x="5303520" y="1828800"/>
            <a:ext cx="3383280" cy="43891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12" name="Invoice chip 12"/>
          <p:cNvSpPr/>
          <p:nvPr/>
        </p:nvSpPr>
        <p:spPr>
          <a:xfrm>
            <a:off x="5394960" y="1892808"/>
            <a:ext cx="822960" cy="310896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13" name="Invoice id 13"/>
          <p:cNvSpPr txBox="1"/>
          <p:nvPr/>
        </p:nvSpPr>
        <p:spPr>
          <a:xfrm>
            <a:off x="5394960" y="189280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INV102</a:t>
            </a:r>
          </a:p>
        </p:txBody>
      </p:sp>
      <p:sp>
        <p:nvSpPr>
          <p:cNvPr id="14" name="Invoice label 14"/>
          <p:cNvSpPr txBox="1"/>
          <p:nvPr/>
        </p:nvSpPr>
        <p:spPr>
          <a:xfrm>
            <a:off x="6355080" y="182880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Payment mismatch</a:t>
            </a:r>
          </a:p>
        </p:txBody>
      </p:sp>
      <p:sp>
        <p:nvSpPr>
          <p:cNvPr id="15" name="Invoice row 15"/>
          <p:cNvSpPr/>
          <p:nvPr/>
        </p:nvSpPr>
        <p:spPr>
          <a:xfrm>
            <a:off x="5303520" y="2331720"/>
            <a:ext cx="3383280" cy="43891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16" name="Invoice chip 16"/>
          <p:cNvSpPr/>
          <p:nvPr/>
        </p:nvSpPr>
        <p:spPr>
          <a:xfrm>
            <a:off x="5394960" y="2395728"/>
            <a:ext cx="822960" cy="310896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17" name="Invoice id 17"/>
          <p:cNvSpPr txBox="1"/>
          <p:nvPr/>
        </p:nvSpPr>
        <p:spPr>
          <a:xfrm>
            <a:off x="5394960" y="239572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INV103</a:t>
            </a:r>
          </a:p>
        </p:txBody>
      </p:sp>
      <p:sp>
        <p:nvSpPr>
          <p:cNvPr id="18" name="Invoice label 18"/>
          <p:cNvSpPr txBox="1"/>
          <p:nvPr/>
        </p:nvSpPr>
        <p:spPr>
          <a:xfrm>
            <a:off x="6355080" y="233172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Duplicate invoice</a:t>
            </a:r>
          </a:p>
        </p:txBody>
      </p:sp>
      <p:sp>
        <p:nvSpPr>
          <p:cNvPr id="19" name="Invoice row 19"/>
          <p:cNvSpPr/>
          <p:nvPr/>
        </p:nvSpPr>
        <p:spPr>
          <a:xfrm>
            <a:off x="5303520" y="2834640"/>
            <a:ext cx="3383280" cy="43891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20" name="Invoice chip 20"/>
          <p:cNvSpPr/>
          <p:nvPr/>
        </p:nvSpPr>
        <p:spPr>
          <a:xfrm>
            <a:off x="5394960" y="2898648"/>
            <a:ext cx="822960" cy="310896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21" name="Invoice id 21"/>
          <p:cNvSpPr txBox="1"/>
          <p:nvPr/>
        </p:nvSpPr>
        <p:spPr>
          <a:xfrm>
            <a:off x="5394960" y="289864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INV104</a:t>
            </a:r>
          </a:p>
        </p:txBody>
      </p:sp>
      <p:sp>
        <p:nvSpPr>
          <p:cNvPr id="22" name="Invoice label 22"/>
          <p:cNvSpPr txBox="1"/>
          <p:nvPr/>
        </p:nvSpPr>
        <p:spPr>
          <a:xfrm>
            <a:off x="6355080" y="283464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Wrong total (extra test)</a:t>
            </a:r>
          </a:p>
        </p:txBody>
      </p:sp>
      <p:sp>
        <p:nvSpPr>
          <p:cNvPr id="23" name="Invoice row 23"/>
          <p:cNvSpPr/>
          <p:nvPr/>
        </p:nvSpPr>
        <p:spPr>
          <a:xfrm>
            <a:off x="5303520" y="3337560"/>
            <a:ext cx="3383280" cy="43891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24" name="Invoice chip 24"/>
          <p:cNvSpPr/>
          <p:nvPr/>
        </p:nvSpPr>
        <p:spPr>
          <a:xfrm>
            <a:off x="5394960" y="3401568"/>
            <a:ext cx="822960" cy="310896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25" name="Invoice id 25"/>
          <p:cNvSpPr txBox="1"/>
          <p:nvPr/>
        </p:nvSpPr>
        <p:spPr>
          <a:xfrm>
            <a:off x="5394960" y="340156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INV105</a:t>
            </a:r>
          </a:p>
        </p:txBody>
      </p:sp>
      <p:sp>
        <p:nvSpPr>
          <p:cNvPr id="26" name="Invoice label 26"/>
          <p:cNvSpPr txBox="1"/>
          <p:nvPr/>
        </p:nvSpPr>
        <p:spPr>
          <a:xfrm>
            <a:off x="6355080" y="333756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Missing vendor (extra test)</a:t>
            </a:r>
          </a:p>
        </p:txBody>
      </p:sp>
      <p:sp>
        <p:nvSpPr>
          <p:cNvPr id="27" name="Invoice row 27"/>
          <p:cNvSpPr/>
          <p:nvPr/>
        </p:nvSpPr>
        <p:spPr>
          <a:xfrm>
            <a:off x="5303520" y="3840480"/>
            <a:ext cx="3383280" cy="43891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</p:spPr>
      </p:sp>
      <p:sp>
        <p:nvSpPr>
          <p:cNvPr id="28" name="Invoice chip 28"/>
          <p:cNvSpPr/>
          <p:nvPr/>
        </p:nvSpPr>
        <p:spPr>
          <a:xfrm>
            <a:off x="5394960" y="3904488"/>
            <a:ext cx="822960" cy="310896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</p:spPr>
      </p:sp>
      <p:sp>
        <p:nvSpPr>
          <p:cNvPr id="29" name="Invoice id 29"/>
          <p:cNvSpPr txBox="1"/>
          <p:nvPr/>
        </p:nvSpPr>
        <p:spPr>
          <a:xfrm>
            <a:off x="5394960" y="390448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INV106</a:t>
            </a:r>
          </a:p>
        </p:txBody>
      </p:sp>
      <p:sp>
        <p:nvSpPr>
          <p:cNvPr id="30" name="Invoice label 30"/>
          <p:cNvSpPr txBox="1"/>
          <p:nvPr/>
        </p:nvSpPr>
        <p:spPr>
          <a:xfrm>
            <a:off x="6355080" y="384048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No payment record (extra test)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2026-10-19T16:18:56Z</dcterms:created>
  <dcterms:modified xsi:type="dcterms:W3CDTF">2026-10-19T16:18:56Z</dcterms:modified>
</cp:coreProperties>
</file>